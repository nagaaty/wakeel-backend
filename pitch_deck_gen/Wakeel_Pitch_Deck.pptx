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WAKEEL ⚖️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F37"/>
                </a:solidFill>
              </a:rPr>
              <a:t>WAKEEL ⚖️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Digitizing Egypt's Legal Market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3474720"/>
            <a:ext cx="91440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8404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</a:rPr>
              <a:t>INVESTOR PITCH DECK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</a:rPr>
              <a:t>The Egyptian legal industry is stuck in the 1990s.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40480" cy="22860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555"/>
                </a:solidFill>
              </a:rPr>
              <a:t>For Clients: Zero Trust &amp; Access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Rely entirely on blind word-of-mouth.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No transparent pricing.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High friction to find a specialized lawyer.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846320" y="2011680"/>
            <a:ext cx="3840480" cy="22860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219456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5555"/>
                </a:solidFill>
              </a:rPr>
              <a:t>For Lawyers: Zero Digital Growth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37760" y="292608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No digital channels to acquire new clients.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High overhead costs for physical networking.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• Wasted time on unverified leads.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The Solution: Wakeel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</a:rPr>
              <a:t>A seamless, transparent booking marketplace that bridges the gap.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1. Instant Digital Booking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Clients can browse, filter, and instantly book consultations directly through the app. Zero friction.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2. Verified Trust &amp; Ratings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Every lawyer is vetted. Real client reviews force transparency and elevate the quality of service across the entire platform.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</a:rPr>
              <a:t>3. Transparent Pricing &amp; Payments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In-app payments guarantee lawyers get paid, and clients know exactly what a consultation will cost before they book.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Massive Market Opportunity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</a:rPr>
              <a:t>Egypt represents the largest untapped digital legal market in MENA.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100M+ Citizens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</a:rPr>
              <a:t>A massive, underserved population requiring daily legal services (contracts, disputes, advice).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2860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150,000+ Lawyers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2004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</a:rPr>
              <a:t>One of the highest lawyer-to-citizen ratios globally, hungry for modern client acquisition channels.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22860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ADE80"/>
                </a:solidFill>
              </a:rPr>
              <a:t>Multi-Billion EGP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</a:rPr>
              <a:t>Total Addressable Market (TAM). The first platform to capture this network effect will monopolize the industry.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The 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</a:rPr>
              <a:t>A highly lean, instantly profitable, high-margin booking model.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2286000" cy="1371600"/>
          </a:xfrm>
          <a:prstGeom prst="rect">
            <a:avLst/>
          </a:prstGeom>
          <a:solidFill>
            <a:srgbClr val="2727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603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</a:rPr>
              <a:t>Avg. Consultation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500 EGP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29000" y="2286000"/>
            <a:ext cx="2286000" cy="1371600"/>
          </a:xfrm>
          <a:prstGeom prst="rect">
            <a:avLst/>
          </a:prstGeom>
          <a:solidFill>
            <a:srgbClr val="27272A"/>
          </a:solidFill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25603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</a:rPr>
              <a:t>Wakeel Commission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30175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F37"/>
                </a:solidFill>
              </a:rPr>
              <a:t>10%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943600" y="2286000"/>
            <a:ext cx="2286000" cy="1371600"/>
          </a:xfrm>
          <a:prstGeom prst="rect">
            <a:avLst/>
          </a:prstGeom>
          <a:solidFill>
            <a:srgbClr val="27272A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25603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A"/>
                </a:solidFill>
              </a:rPr>
              <a:t>Gross Profit / Booking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30175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DE80"/>
                </a:solidFill>
              </a:rPr>
              <a:t>50 EGP</a:t>
            </a:r>
            <a:endParaRPr lang="en-US" sz="3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Case Study: Avvo 🇺🇸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</a:rPr>
              <a:t>Acquired for $650M. The perfect US comparable for a pure lawyer marketplace.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The Playbook: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Launched by aggressively rating 90% of US lawyers via public records. Sued by lawyers, won lawsuit, generated massive free PR.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The Result: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Hit extreme profitability once the network effect of Q&amp;A forums and direct booking took over.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062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55"/>
                </a:solidFill>
              </a:rPr>
              <a:t>Their Flaw: Charged an exorbitant ~25% cut per booking (framed as a "Marketing Fee").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Case Study: Vezeeta 🇪🇬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</a:rPr>
              <a:t>Raised $70M+. The dominant professional booking app in MENA.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The Playbook: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Pivoted from failing EMR software into a B2C patient booking marketplace.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The Result: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Booking model exploded. Solved the exact same trust and discovery problems in MENA healthcare that Wakeel is solving in Law.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062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55"/>
                </a:solidFill>
              </a:rPr>
              <a:t>Their Flaw: Extremely expensive for providers (~15-20% fee + Monthly SaaS subscriptions).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Case Study: Bynh 🇸🇦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</a:rPr>
              <a:t>The Saudi legal app that proves MENA lawyers and clients will adopt a booking app.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The Playbook: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Aggressive B2B lawyer acquisition in Year 1, followed by heavy B2C client marketing in Year 2.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F37"/>
                </a:solidFill>
              </a:rPr>
              <a:t>The Result: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Successfully raised institutional VC money (Flat6Labs), proving that local investors see massive profit potential in this specific model.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062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555"/>
                </a:solidFill>
              </a:rPr>
              <a:t>Their Flaw: Hidden commission margins estimated at 15-20% built into fixed pricing.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Why Early Egyptian Legal Apps Failed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</a:rPr>
              <a:t>And exactly how Wakeel exploits their fatal flaws.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55"/>
                </a:solidFill>
              </a:rPr>
              <a:t>1. The "Yellow Pages" Trap (Poor UX)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Early apps forced users to manually call lawyers. Wakeel uses instant slot-booking and in-app payment, creating zero friction.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346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55"/>
                </a:solidFill>
              </a:rPr>
              <a:t>2. Zero Quality Control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Competitors allowed anyone to sign up, destroying trust. Wakeel enforces strict vetting, verified licenses, and a transparent rating system.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4904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555"/>
                </a:solidFill>
              </a:rPr>
              <a:t>3. Flawed Monetization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80467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Competitors demanded huge upfront lawyer fees. Wakeel uses a clean 10% commission on successful bookings. A "No-Brainer" for lawyers.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AF37"/>
                </a:solidFill>
              </a:rPr>
              <a:t>3-Year Financial Projections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1A1AA"/>
                </a:solidFill>
              </a:rPr>
              <a:t>A timeline to exponential profitability and market dominance.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92608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YEAR 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30k Clients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1.5k Lawyers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</a:rPr>
              <a:t>Revenue: 2.25M EGP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Profit: +750k EGP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292608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YEAR 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0" y="2560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100k Clients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4k Lawyers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32918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</a:rPr>
              <a:t>Revenue: 7.5M EGP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Profit: +4.5M EGP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560320" cy="292608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20116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YEAR 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26480" y="256032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300k Clients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10k Lawyers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329184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1A1AA"/>
                </a:solidFill>
              </a:rPr>
              <a:t>Revenue: 22.5M EGP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3840480"/>
            <a:ext cx="2560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DE80"/>
                </a:solidFill>
              </a:rPr>
              <a:t>Profit: +16.5M EGP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AF37"/>
                </a:solidFill>
              </a:rPr>
              <a:t>The Ask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Seeking Seed Investment to execute our Year 1 strategy, aggressively acquire lawyer supply, and capture the Egyptian market.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Let's build the future together.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2026-06-07T20:55:58Z</dcterms:created>
  <dcterms:modified xsi:type="dcterms:W3CDTF">2026-06-07T20:55:58Z</dcterms:modified>
</cp:coreProperties>
</file>